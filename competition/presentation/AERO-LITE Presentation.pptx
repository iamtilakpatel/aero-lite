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embeddedFontLst>
    <p:embeddedFont>
      <p:font typeface="Coda" panose="020B0500000000000004" pitchFamily="34" charset="77"/>
      <p:regular r:id="rId10"/>
    </p:embeddedFont>
    <p:embeddedFont>
      <p:font typeface="Liter" panose="0200050303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6327"/>
  </p:normalViewPr>
  <p:slideViewPr>
    <p:cSldViewPr snapToGrid="0" snapToObjects="1">
      <p:cViewPr varScale="1">
        <p:scale>
          <a:sx n="123" d="100"/>
          <a:sy n="123" d="100"/>
        </p:scale>
        <p:origin x="22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49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287191" y="1833563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000" b="1" kern="0" spc="4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AERO-LITE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251" y="3128963"/>
            <a:ext cx="1219200" cy="38100"/>
          </a:xfrm>
          <a:prstGeom prst="roundRect">
            <a:avLst>
              <a:gd name="adj" fmla="val 0"/>
            </a:avLst>
          </a:prstGeom>
          <a:solidFill>
            <a:srgbClr val="F9A825"/>
          </a:solidFill>
          <a:ln/>
        </p:spPr>
      </p:sp>
      <p:sp>
        <p:nvSpPr>
          <p:cNvPr id="6" name="Text 3"/>
          <p:cNvSpPr/>
          <p:nvPr/>
        </p:nvSpPr>
        <p:spPr>
          <a:xfrm>
            <a:off x="2515790" y="3395663"/>
            <a:ext cx="746987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kern="0" spc="45" dirty="0">
                <a:solidFill>
                  <a:schemeClr val="accent2">
                    <a:lumMod val="60000"/>
                    <a:lumOff val="4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Turning dirty cabin air into clean  CO₂ for chemistry that makes oxygen</a:t>
            </a:r>
            <a:endParaRPr lang="en-US" sz="16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287619" y="525780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</a:rPr>
              <a:t>Tilak Patel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297144" y="5562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r>
              <a:rPr lang="en-US" sz="1200" baseline="300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</a:t>
            </a: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97144" y="5791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Thompson Middle School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kern="0" spc="-90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BROKEN PATHS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prstGeom prst="roundRect">
            <a:avLst>
              <a:gd name="adj" fmla="val 0"/>
            </a:avLst>
          </a:prstGeom>
          <a:solidFill>
            <a:srgbClr val="00838F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219200"/>
            <a:ext cx="5581650" cy="2609850"/>
          </a:xfrm>
          <a:custGeom>
            <a:avLst/>
            <a:gdLst/>
            <a:ahLst/>
            <a:cxnLst/>
            <a:rect l="l" t="t" r="r" b="b"/>
            <a:pathLst>
              <a:path w="5581650" h="26098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2533650"/>
                </a:lnTo>
                <a:cubicBezTo>
                  <a:pt x="5581650" y="2575706"/>
                  <a:pt x="5547506" y="2609850"/>
                  <a:pt x="5505450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09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2E2"/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35719"/>
                </a:moveTo>
                <a:cubicBezTo>
                  <a:pt x="83344" y="29148"/>
                  <a:pt x="88679" y="23812"/>
                  <a:pt x="95250" y="23812"/>
                </a:cubicBezTo>
                <a:cubicBezTo>
                  <a:pt x="101821" y="23812"/>
                  <a:pt x="107156" y="29148"/>
                  <a:pt x="107156" y="35719"/>
                </a:cubicBezTo>
                <a:cubicBezTo>
                  <a:pt x="107156" y="42290"/>
                  <a:pt x="101821" y="47625"/>
                  <a:pt x="95250" y="47625"/>
                </a:cubicBezTo>
                <a:cubicBezTo>
                  <a:pt x="88679" y="47625"/>
                  <a:pt x="83344" y="42290"/>
                  <a:pt x="83344" y="35719"/>
                </a:cubicBezTo>
                <a:close/>
                <a:moveTo>
                  <a:pt x="128922" y="47625"/>
                </a:moveTo>
                <a:cubicBezTo>
                  <a:pt x="130225" y="43904"/>
                  <a:pt x="130969" y="39886"/>
                  <a:pt x="130969" y="35719"/>
                </a:cubicBezTo>
                <a:cubicBezTo>
                  <a:pt x="130969" y="15999"/>
                  <a:pt x="114970" y="0"/>
                  <a:pt x="95250" y="0"/>
                </a:cubicBezTo>
                <a:cubicBezTo>
                  <a:pt x="75530" y="0"/>
                  <a:pt x="59531" y="15999"/>
                  <a:pt x="59531" y="35719"/>
                </a:cubicBezTo>
                <a:cubicBezTo>
                  <a:pt x="59531" y="39886"/>
                  <a:pt x="60238" y="43904"/>
                  <a:pt x="61578" y="47625"/>
                </a:cubicBezTo>
                <a:lnTo>
                  <a:pt x="53467" y="47625"/>
                </a:lnTo>
                <a:cubicBezTo>
                  <a:pt x="42937" y="47625"/>
                  <a:pt x="33672" y="54508"/>
                  <a:pt x="30659" y="64591"/>
                </a:cubicBezTo>
                <a:lnTo>
                  <a:pt x="893" y="163785"/>
                </a:lnTo>
                <a:cubicBezTo>
                  <a:pt x="298" y="165720"/>
                  <a:pt x="0" y="167729"/>
                  <a:pt x="0" y="169738"/>
                </a:cubicBezTo>
                <a:cubicBezTo>
                  <a:pt x="0" y="181198"/>
                  <a:pt x="9302" y="190500"/>
                  <a:pt x="20762" y="190500"/>
                </a:cubicBezTo>
                <a:lnTo>
                  <a:pt x="169738" y="190500"/>
                </a:lnTo>
                <a:cubicBezTo>
                  <a:pt x="181198" y="190500"/>
                  <a:pt x="190500" y="181198"/>
                  <a:pt x="190500" y="169738"/>
                </a:cubicBezTo>
                <a:cubicBezTo>
                  <a:pt x="190500" y="167729"/>
                  <a:pt x="190202" y="165720"/>
                  <a:pt x="189607" y="163785"/>
                </a:cubicBezTo>
                <a:lnTo>
                  <a:pt x="159841" y="64629"/>
                </a:lnTo>
                <a:cubicBezTo>
                  <a:pt x="156828" y="54546"/>
                  <a:pt x="147563" y="47662"/>
                  <a:pt x="137033" y="47662"/>
                </a:cubicBezTo>
                <a:lnTo>
                  <a:pt x="128922" y="47662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490663"/>
            <a:ext cx="752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574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6614" y="201930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 kg</a:t>
            </a:r>
            <a:r>
              <a:rPr lang="en-US" sz="12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massive system weight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4384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6614" y="240030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600W</a:t>
            </a:r>
            <a:r>
              <a:rPr lang="en-US" sz="12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power hungry operation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8194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6614" y="278130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maintenance, vents CO₂ overboard (impossible on Moon)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9350" y="1219200"/>
            <a:ext cx="5581650" cy="2609850"/>
          </a:xfrm>
          <a:custGeom>
            <a:avLst/>
            <a:gdLst/>
            <a:ahLst/>
            <a:cxnLst/>
            <a:rect l="l" t="t" r="r" b="b"/>
            <a:pathLst>
              <a:path w="5581650" h="260985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2533650"/>
                </a:lnTo>
                <a:cubicBezTo>
                  <a:pt x="5581650" y="2575706"/>
                  <a:pt x="5547506" y="2609850"/>
                  <a:pt x="5505450" y="2609850"/>
                </a:cubicBez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9350" y="1219200"/>
            <a:ext cx="38100" cy="2609850"/>
          </a:xfrm>
          <a:custGeom>
            <a:avLst/>
            <a:gdLst/>
            <a:ahLst/>
            <a:cxnLst/>
            <a:rect l="l" t="t" r="r" b="b"/>
            <a:pathLst>
              <a:path w="38100" h="2609850">
                <a:moveTo>
                  <a:pt x="38100" y="0"/>
                </a:moveTo>
                <a:lnTo>
                  <a:pt x="38100" y="0"/>
                </a:lnTo>
                <a:lnTo>
                  <a:pt x="38100" y="2609850"/>
                </a:lnTo>
                <a:lnTo>
                  <a:pt x="38100" y="2609850"/>
                </a:lnTo>
                <a:cubicBezTo>
                  <a:pt x="17072" y="2609850"/>
                  <a:pt x="0" y="2592778"/>
                  <a:pt x="0" y="2571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8900" y="1409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ED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4156" y="154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0862" y="2195"/>
                </a:moveTo>
                <a:cubicBezTo>
                  <a:pt x="52499" y="-2679"/>
                  <a:pt x="57038" y="-5953"/>
                  <a:pt x="62173" y="-5953"/>
                </a:cubicBezTo>
                <a:lnTo>
                  <a:pt x="104552" y="-5953"/>
                </a:lnTo>
                <a:cubicBezTo>
                  <a:pt x="109686" y="-5953"/>
                  <a:pt x="114226" y="-2679"/>
                  <a:pt x="115863" y="2195"/>
                </a:cubicBezTo>
                <a:lnTo>
                  <a:pt x="119063" y="11906"/>
                </a:ln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lnTo>
                  <a:pt x="50862" y="2195"/>
                </a:lnTo>
                <a:close/>
                <a:moveTo>
                  <a:pt x="11906" y="53578"/>
                </a:moveTo>
                <a:lnTo>
                  <a:pt x="154781" y="53578"/>
                </a:lnTo>
                <a:lnTo>
                  <a:pt x="154781" y="166688"/>
                </a:lnTo>
                <a:cubicBezTo>
                  <a:pt x="154781" y="179822"/>
                  <a:pt x="144103" y="190500"/>
                  <a:pt x="130969" y="190500"/>
                </a:cubicBezTo>
                <a:lnTo>
                  <a:pt x="35719" y="190500"/>
                </a:lnTo>
                <a:cubicBezTo>
                  <a:pt x="22585" y="190500"/>
                  <a:pt x="11906" y="179822"/>
                  <a:pt x="11906" y="166688"/>
                </a:cubicBezTo>
                <a:lnTo>
                  <a:pt x="11906" y="53578"/>
                </a:lnTo>
                <a:close/>
                <a:moveTo>
                  <a:pt x="44648" y="77391"/>
                </a:moveTo>
                <a:cubicBezTo>
                  <a:pt x="39700" y="77391"/>
                  <a:pt x="35719" y="81372"/>
                  <a:pt x="35719" y="86320"/>
                </a:cubicBezTo>
                <a:lnTo>
                  <a:pt x="35719" y="157758"/>
                </a:lnTo>
                <a:cubicBezTo>
                  <a:pt x="35719" y="162706"/>
                  <a:pt x="39700" y="166688"/>
                  <a:pt x="44648" y="166688"/>
                </a:cubicBezTo>
                <a:cubicBezTo>
                  <a:pt x="49597" y="166688"/>
                  <a:pt x="53578" y="162706"/>
                  <a:pt x="53578" y="157758"/>
                </a:cubicBezTo>
                <a:lnTo>
                  <a:pt x="53578" y="86320"/>
                </a:lnTo>
                <a:cubicBezTo>
                  <a:pt x="53578" y="81372"/>
                  <a:pt x="49597" y="77391"/>
                  <a:pt x="44648" y="77391"/>
                </a:cubicBezTo>
                <a:close/>
                <a:moveTo>
                  <a:pt x="83344" y="77391"/>
                </a:moveTo>
                <a:cubicBezTo>
                  <a:pt x="78395" y="77391"/>
                  <a:pt x="74414" y="81372"/>
                  <a:pt x="74414" y="86320"/>
                </a:cubicBezTo>
                <a:lnTo>
                  <a:pt x="74414" y="157758"/>
                </a:lnTo>
                <a:cubicBezTo>
                  <a:pt x="74414" y="162706"/>
                  <a:pt x="78395" y="166688"/>
                  <a:pt x="83344" y="166688"/>
                </a:cubicBezTo>
                <a:cubicBezTo>
                  <a:pt x="88292" y="166688"/>
                  <a:pt x="92273" y="162706"/>
                  <a:pt x="92273" y="157758"/>
                </a:cubicBezTo>
                <a:lnTo>
                  <a:pt x="92273" y="86320"/>
                </a:lnTo>
                <a:cubicBezTo>
                  <a:pt x="92273" y="81372"/>
                  <a:pt x="88292" y="77391"/>
                  <a:pt x="83344" y="77391"/>
                </a:cubicBezTo>
                <a:close/>
                <a:moveTo>
                  <a:pt x="122039" y="77391"/>
                </a:moveTo>
                <a:cubicBezTo>
                  <a:pt x="117091" y="77391"/>
                  <a:pt x="113109" y="81372"/>
                  <a:pt x="113109" y="86320"/>
                </a:cubicBezTo>
                <a:lnTo>
                  <a:pt x="113109" y="157758"/>
                </a:lnTo>
                <a:cubicBezTo>
                  <a:pt x="113109" y="162706"/>
                  <a:pt x="117091" y="166688"/>
                  <a:pt x="122039" y="166688"/>
                </a:cubicBezTo>
                <a:cubicBezTo>
                  <a:pt x="126988" y="166688"/>
                  <a:pt x="130969" y="162706"/>
                  <a:pt x="130969" y="157758"/>
                </a:cubicBezTo>
                <a:lnTo>
                  <a:pt x="130969" y="86320"/>
                </a:lnTo>
                <a:cubicBezTo>
                  <a:pt x="130969" y="81372"/>
                  <a:pt x="126988" y="77391"/>
                  <a:pt x="122039" y="77391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9" name="Text 17"/>
          <p:cNvSpPr/>
          <p:nvPr/>
        </p:nvSpPr>
        <p:spPr>
          <a:xfrm>
            <a:off x="7010400" y="1490663"/>
            <a:ext cx="17240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LiOH Canisters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8900" y="20574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95914" y="2019300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Single-use</a:t>
            </a:r>
            <a:r>
              <a:rPr lang="en-US" sz="12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consumable, not regenerative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8900" y="24384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95914" y="24003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Resupply mass penalty</a:t>
            </a:r>
            <a:r>
              <a:rPr lang="en-US" sz="12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hundreds needed for long missions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3663" y="2824163"/>
            <a:ext cx="5172075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2725" y="2943225"/>
            <a:ext cx="5000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not LiOH?</a:t>
            </a:r>
            <a:r>
              <a:rPr lang="en-US" sz="10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LiOH canisters are single-use and increase resupply mass. AERO-LITE uses regenerative adsorption to reduce consumables and enable longer-duration missions.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057650"/>
            <a:ext cx="11410950" cy="952500"/>
          </a:xfrm>
          <a:custGeom>
            <a:avLst/>
            <a:gdLst/>
            <a:ahLst/>
            <a:cxnLst/>
            <a:rect l="l" t="t" r="r" b="b"/>
            <a:pathLst>
              <a:path w="11410950" h="9525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876300"/>
                </a:lnTo>
                <a:cubicBezTo>
                  <a:pt x="11410950" y="918356"/>
                  <a:pt x="11376806" y="952500"/>
                  <a:pt x="113347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7D32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405765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600" y="43053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7D32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66763" y="44386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181100" y="4248150"/>
            <a:ext cx="690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E7D3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GAP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1100" y="4552950"/>
            <a:ext cx="689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needs a regenerative, lightweight front-end that conditions CO₂ for the Sabatier loop.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kern="0" spc="-90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JUST FILTER. PRE-PROCESS.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prstGeom prst="roundRect">
            <a:avLst>
              <a:gd name="adj" fmla="val 0"/>
            </a:avLst>
          </a:prstGeom>
          <a:solidFill>
            <a:srgbClr val="00838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143000"/>
            <a:ext cx="5153025" cy="4114800"/>
          </a:xfrm>
          <a:prstGeom prst="roundRect">
            <a:avLst>
              <a:gd name="adj" fmla="val 1852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335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99A1AF"/>
          </a:solidFill>
          <a:ln/>
        </p:spPr>
      </p:sp>
      <p:sp>
        <p:nvSpPr>
          <p:cNvPr id="6" name="Shape 4"/>
          <p:cNvSpPr/>
          <p:nvPr/>
        </p:nvSpPr>
        <p:spPr>
          <a:xfrm>
            <a:off x="676275" y="14192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4351" y="19117"/>
                </a:moveTo>
                <a:cubicBezTo>
                  <a:pt x="11095" y="15861"/>
                  <a:pt x="5808" y="15861"/>
                  <a:pt x="2552" y="19117"/>
                </a:cubicBezTo>
                <a:cubicBezTo>
                  <a:pt x="-703" y="22373"/>
                  <a:pt x="-703" y="27660"/>
                  <a:pt x="2552" y="30915"/>
                </a:cubicBezTo>
                <a:lnTo>
                  <a:pt x="38338" y="66675"/>
                </a:lnTo>
                <a:lnTo>
                  <a:pt x="2578" y="102461"/>
                </a:lnTo>
                <a:cubicBezTo>
                  <a:pt x="-677" y="105716"/>
                  <a:pt x="-677" y="111003"/>
                  <a:pt x="2578" y="114259"/>
                </a:cubicBezTo>
                <a:cubicBezTo>
                  <a:pt x="5834" y="117515"/>
                  <a:pt x="11121" y="117515"/>
                  <a:pt x="14377" y="114259"/>
                </a:cubicBezTo>
                <a:lnTo>
                  <a:pt x="50136" y="78473"/>
                </a:lnTo>
                <a:lnTo>
                  <a:pt x="85922" y="114233"/>
                </a:lnTo>
                <a:cubicBezTo>
                  <a:pt x="89178" y="117489"/>
                  <a:pt x="94465" y="117489"/>
                  <a:pt x="97721" y="114233"/>
                </a:cubicBezTo>
                <a:cubicBezTo>
                  <a:pt x="100976" y="110977"/>
                  <a:pt x="100976" y="105690"/>
                  <a:pt x="97721" y="102435"/>
                </a:cubicBezTo>
                <a:lnTo>
                  <a:pt x="61935" y="66675"/>
                </a:lnTo>
                <a:lnTo>
                  <a:pt x="97695" y="30889"/>
                </a:lnTo>
                <a:cubicBezTo>
                  <a:pt x="100950" y="27634"/>
                  <a:pt x="100950" y="22347"/>
                  <a:pt x="97695" y="19091"/>
                </a:cubicBezTo>
                <a:cubicBezTo>
                  <a:pt x="94439" y="15835"/>
                  <a:pt x="89152" y="15835"/>
                  <a:pt x="85896" y="19091"/>
                </a:cubicBezTo>
                <a:lnTo>
                  <a:pt x="50136" y="54877"/>
                </a:lnTo>
                <a:lnTo>
                  <a:pt x="14351" y="1911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35255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ISS Path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790700"/>
            <a:ext cx="4772025" cy="762000"/>
          </a:xfrm>
          <a:prstGeom prst="roundRect">
            <a:avLst>
              <a:gd name="adj" fmla="val 10000"/>
            </a:avLst>
          </a:prstGeom>
          <a:solidFill>
            <a:srgbClr val="D1D5DC"/>
          </a:solidFill>
          <a:ln/>
        </p:spPr>
      </p:sp>
      <p:sp>
        <p:nvSpPr>
          <p:cNvPr id="9" name="Text 7"/>
          <p:cNvSpPr/>
          <p:nvPr/>
        </p:nvSpPr>
        <p:spPr>
          <a:xfrm>
            <a:off x="681038" y="1943100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563" y="2209800"/>
            <a:ext cx="453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Carbon Dioxide Removal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72978" y="26670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2" name="Shape 10"/>
          <p:cNvSpPr/>
          <p:nvPr/>
        </p:nvSpPr>
        <p:spPr>
          <a:xfrm>
            <a:off x="581025" y="3019425"/>
            <a:ext cx="4752975" cy="781050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rgbClr val="99A1AF"/>
              </a:gs>
              <a:gs pos="100000">
                <a:srgbClr val="D1D5DC"/>
              </a:gs>
            </a:gsLst>
            <a:lin ang="0" scaled="1"/>
          </a:gradFill>
          <a:ln w="25400">
            <a:solidFill>
              <a:srgbClr val="99A1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850" y="3181350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Wet, low-pressure CO₂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9613" y="3448050"/>
            <a:ext cx="449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Mixed with cabin air, humid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72978" y="3924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6" name="Shape 14"/>
          <p:cNvSpPr/>
          <p:nvPr/>
        </p:nvSpPr>
        <p:spPr>
          <a:xfrm>
            <a:off x="581025" y="4276725"/>
            <a:ext cx="4752975" cy="781050"/>
          </a:xfrm>
          <a:prstGeom prst="roundRect">
            <a:avLst>
              <a:gd name="adj" fmla="val 9756"/>
            </a:avLst>
          </a:prstGeom>
          <a:solidFill>
            <a:srgbClr val="FFE2E2"/>
          </a:solidFill>
          <a:ln w="25400">
            <a:solidFill>
              <a:srgbClr val="FFA2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232" y="4476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2586782" y="443865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700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Choked Feed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9613" y="4705350"/>
            <a:ext cx="449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Sabatier struggles with impure input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5006" y="2895600"/>
            <a:ext cx="666750" cy="6096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55506" y="3048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5119" y="1152525"/>
            <a:ext cx="5133975" cy="4095750"/>
          </a:xfrm>
          <a:prstGeom prst="roundRect">
            <a:avLst>
              <a:gd name="adj" fmla="val 1860"/>
            </a:avLst>
          </a:prstGeom>
          <a:solidFill>
            <a:srgbClr val="00838F">
              <a:alpha val="5098"/>
            </a:srgbClr>
          </a:solidFill>
          <a:ln w="25400">
            <a:solidFill>
              <a:srgbClr val="00838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5144" y="1352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</p:sp>
      <p:sp>
        <p:nvSpPr>
          <p:cNvPr id="24" name="Shape 22"/>
          <p:cNvSpPr/>
          <p:nvPr/>
        </p:nvSpPr>
        <p:spPr>
          <a:xfrm>
            <a:off x="6961584" y="1438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246144" y="13716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83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AERO-LITE Path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74669" y="1819275"/>
            <a:ext cx="1104900" cy="438150"/>
          </a:xfrm>
          <a:prstGeom prst="roundRect">
            <a:avLst>
              <a:gd name="adj" fmla="val 17391"/>
            </a:avLst>
          </a:prstGeom>
          <a:solidFill>
            <a:srgbClr val="FFEDD4"/>
          </a:solidFill>
          <a:ln w="25400">
            <a:solidFill>
              <a:srgbClr val="FFB8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5156" y="19431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87395" y="1819275"/>
            <a:ext cx="1104900" cy="438150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25400">
            <a:solidFill>
              <a:srgbClr val="7BF1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7883" y="19431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Concentrated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484048" y="1819275"/>
            <a:ext cx="1104900" cy="438150"/>
          </a:xfrm>
          <a:prstGeom prst="roundRect">
            <a:avLst>
              <a:gd name="adj" fmla="val 17391"/>
            </a:avLst>
          </a:prstGeom>
          <a:solidFill>
            <a:srgbClr val="FEF9C2"/>
          </a:solidFill>
          <a:ln w="25400">
            <a:solidFill>
              <a:srgbClr val="FDC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74536" y="194310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A65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Pressurized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47572" y="2381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838F"/>
          </a:solidFill>
          <a:ln/>
        </p:spPr>
      </p:sp>
      <p:sp>
        <p:nvSpPr>
          <p:cNvPr id="35" name="Shape 33"/>
          <p:cNvSpPr/>
          <p:nvPr/>
        </p:nvSpPr>
        <p:spPr>
          <a:xfrm>
            <a:off x="6874669" y="2733675"/>
            <a:ext cx="4714875" cy="781050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rgbClr val="00838F">
                  <a:alpha val="20000"/>
                </a:srgbClr>
              </a:gs>
              <a:gs pos="100000">
                <a:srgbClr val="00838F">
                  <a:alpha val="10000"/>
                </a:srgbClr>
              </a:gs>
            </a:gsLst>
            <a:lin ang="0" scaled="1"/>
          </a:gradFill>
          <a:ln w="254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8494" y="2895600"/>
            <a:ext cx="446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83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Dry → Concentrated → Pressurized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03256" y="3162300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838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Reactor-ready CO₂ feed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147572" y="36385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00838F"/>
          </a:solidFill>
          <a:ln/>
        </p:spPr>
      </p:sp>
      <p:sp>
        <p:nvSpPr>
          <p:cNvPr id="39" name="Shape 37"/>
          <p:cNvSpPr/>
          <p:nvPr/>
        </p:nvSpPr>
        <p:spPr>
          <a:xfrm>
            <a:off x="6874669" y="3990975"/>
            <a:ext cx="4714875" cy="781050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25400">
            <a:solidFill>
              <a:srgbClr val="05DF7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22481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1" name="Text 39"/>
          <p:cNvSpPr/>
          <p:nvPr/>
        </p:nvSpPr>
        <p:spPr>
          <a:xfrm>
            <a:off x="8674894" y="41529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Sabatier Optimized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03256" y="4419600"/>
            <a:ext cx="445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00A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chemistry, closed loop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0050" y="5410200"/>
            <a:ext cx="11410950" cy="571500"/>
          </a:xfrm>
          <a:custGeom>
            <a:avLst/>
            <a:gdLst/>
            <a:ahLst/>
            <a:cxnLst/>
            <a:rect l="l" t="t" r="r" b="b"/>
            <a:pathLst>
              <a:path w="11410950" h="571500">
                <a:moveTo>
                  <a:pt x="3810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495300"/>
                </a:lnTo>
                <a:cubicBezTo>
                  <a:pt x="11410950" y="537356"/>
                  <a:pt x="11376806" y="571500"/>
                  <a:pt x="11334750" y="571500"/>
                </a:cubicBez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838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" y="541020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3810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38100" y="571500"/>
                </a:lnTo>
                <a:cubicBezTo>
                  <a:pt x="17072" y="571500"/>
                  <a:pt x="0" y="554428"/>
                  <a:pt x="0" y="533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838F"/>
          </a:solidFill>
          <a:ln/>
        </p:spPr>
      </p:sp>
      <p:sp>
        <p:nvSpPr>
          <p:cNvPr id="45" name="Text 43"/>
          <p:cNvSpPr/>
          <p:nvPr/>
        </p:nvSpPr>
        <p:spPr>
          <a:xfrm>
            <a:off x="523875" y="5562600"/>
            <a:ext cx="11182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Upstream conditioning makes downstream chemistry efficient.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ystem architecture of AERO-LITE system">
            <a:extLst>
              <a:ext uri="{FF2B5EF4-FFF2-40B4-BE49-F238E27FC236}">
                <a16:creationId xmlns:a16="http://schemas.microsoft.com/office/drawing/2014/main" id="{98FF42B6-6DF9-52D5-4209-054218F64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08526"/>
            <a:ext cx="10124209" cy="674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646" y="359646"/>
            <a:ext cx="11688496" cy="43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8" b="1" kern="0" spc="-85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BY DESIGN. SAFE BY DEFAULT.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9646" y="899115"/>
            <a:ext cx="863150" cy="35965"/>
          </a:xfrm>
          <a:prstGeom prst="roundRect">
            <a:avLst>
              <a:gd name="adj" fmla="val 0"/>
            </a:avLst>
          </a:prstGeom>
          <a:solidFill>
            <a:srgbClr val="00838F"/>
          </a:solidFill>
          <a:ln/>
        </p:spPr>
      </p:sp>
      <p:sp>
        <p:nvSpPr>
          <p:cNvPr id="4" name="Shape 2"/>
          <p:cNvSpPr/>
          <p:nvPr/>
        </p:nvSpPr>
        <p:spPr>
          <a:xfrm>
            <a:off x="359646" y="1078938"/>
            <a:ext cx="11472708" cy="539469"/>
          </a:xfrm>
          <a:prstGeom prst="roundRect">
            <a:avLst>
              <a:gd name="adj" fmla="val 13333"/>
            </a:avLst>
          </a:prstGeom>
          <a:solidFill>
            <a:srgbClr val="00838F"/>
          </a:solidFill>
          <a:ln/>
        </p:spPr>
      </p:sp>
      <p:sp>
        <p:nvSpPr>
          <p:cNvPr id="5" name="Text 3"/>
          <p:cNvSpPr/>
          <p:nvPr/>
        </p:nvSpPr>
        <p:spPr>
          <a:xfrm>
            <a:off x="463044" y="1222796"/>
            <a:ext cx="11265912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AERO-LITE  isn't just a filter. It's a smart system. The Arduino watches six sensors and runs everything automatically..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646" y="1798230"/>
            <a:ext cx="5646442" cy="3839221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/>
          <a:effectLst>
            <a:outerShdw blurRad="26973" dist="8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3504" y="2014018"/>
            <a:ext cx="1168850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Array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8529" y="1942088"/>
            <a:ext cx="1033982" cy="395611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/>
        </p:spPr>
      </p:sp>
      <p:sp>
        <p:nvSpPr>
          <p:cNvPr id="9" name="Text 7"/>
          <p:cNvSpPr/>
          <p:nvPr/>
        </p:nvSpPr>
        <p:spPr>
          <a:xfrm>
            <a:off x="4972387" y="2014018"/>
            <a:ext cx="827186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4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6 sensors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486053"/>
            <a:ext cx="2616425" cy="827186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BED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8740" y="2598442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21381" y="13487"/>
                </a:moveTo>
                <a:cubicBezTo>
                  <a:pt x="121381" y="20947"/>
                  <a:pt x="127407" y="26973"/>
                  <a:pt x="134867" y="26973"/>
                </a:cubicBezTo>
                <a:lnTo>
                  <a:pt x="151726" y="26973"/>
                </a:lnTo>
                <a:cubicBezTo>
                  <a:pt x="157331" y="26973"/>
                  <a:pt x="161841" y="31483"/>
                  <a:pt x="161841" y="37088"/>
                </a:cubicBezTo>
                <a:cubicBezTo>
                  <a:pt x="161841" y="42694"/>
                  <a:pt x="157331" y="47204"/>
                  <a:pt x="151726" y="47204"/>
                </a:cubicBezTo>
                <a:lnTo>
                  <a:pt x="13487" y="47204"/>
                </a:lnTo>
                <a:cubicBezTo>
                  <a:pt x="6027" y="47204"/>
                  <a:pt x="0" y="53230"/>
                  <a:pt x="0" y="60690"/>
                </a:cubicBezTo>
                <a:cubicBezTo>
                  <a:pt x="0" y="68150"/>
                  <a:pt x="6027" y="74177"/>
                  <a:pt x="13487" y="74177"/>
                </a:cubicBezTo>
                <a:lnTo>
                  <a:pt x="151726" y="74177"/>
                </a:lnTo>
                <a:cubicBezTo>
                  <a:pt x="172209" y="74177"/>
                  <a:pt x="188814" y="57571"/>
                  <a:pt x="188814" y="37088"/>
                </a:cubicBezTo>
                <a:cubicBezTo>
                  <a:pt x="188814" y="16606"/>
                  <a:pt x="172209" y="0"/>
                  <a:pt x="151726" y="0"/>
                </a:cubicBezTo>
                <a:lnTo>
                  <a:pt x="134867" y="0"/>
                </a:lnTo>
                <a:cubicBezTo>
                  <a:pt x="127407" y="0"/>
                  <a:pt x="121381" y="6027"/>
                  <a:pt x="121381" y="13487"/>
                </a:cubicBezTo>
                <a:close/>
                <a:moveTo>
                  <a:pt x="148354" y="161841"/>
                </a:moveTo>
                <a:cubicBezTo>
                  <a:pt x="148354" y="169301"/>
                  <a:pt x="154381" y="175327"/>
                  <a:pt x="161841" y="175327"/>
                </a:cubicBezTo>
                <a:lnTo>
                  <a:pt x="175327" y="175327"/>
                </a:lnTo>
                <a:cubicBezTo>
                  <a:pt x="197665" y="175327"/>
                  <a:pt x="215788" y="157205"/>
                  <a:pt x="215788" y="134867"/>
                </a:cubicBezTo>
                <a:cubicBezTo>
                  <a:pt x="215788" y="112530"/>
                  <a:pt x="197665" y="94407"/>
                  <a:pt x="175327" y="94407"/>
                </a:cubicBezTo>
                <a:lnTo>
                  <a:pt x="13487" y="94407"/>
                </a:lnTo>
                <a:cubicBezTo>
                  <a:pt x="6027" y="94407"/>
                  <a:pt x="0" y="100434"/>
                  <a:pt x="0" y="107894"/>
                </a:cubicBezTo>
                <a:cubicBezTo>
                  <a:pt x="0" y="115354"/>
                  <a:pt x="6027" y="121381"/>
                  <a:pt x="13487" y="121381"/>
                </a:cubicBezTo>
                <a:lnTo>
                  <a:pt x="175327" y="121381"/>
                </a:lnTo>
                <a:cubicBezTo>
                  <a:pt x="182787" y="121381"/>
                  <a:pt x="188814" y="127407"/>
                  <a:pt x="188814" y="134867"/>
                </a:cubicBezTo>
                <a:cubicBezTo>
                  <a:pt x="188814" y="142327"/>
                  <a:pt x="182787" y="148354"/>
                  <a:pt x="175327" y="148354"/>
                </a:cubicBezTo>
                <a:lnTo>
                  <a:pt x="161841" y="148354"/>
                </a:lnTo>
                <a:cubicBezTo>
                  <a:pt x="154381" y="148354"/>
                  <a:pt x="148354" y="154381"/>
                  <a:pt x="148354" y="161841"/>
                </a:cubicBezTo>
                <a:close/>
                <a:moveTo>
                  <a:pt x="53947" y="215788"/>
                </a:moveTo>
                <a:lnTo>
                  <a:pt x="70805" y="215788"/>
                </a:lnTo>
                <a:cubicBezTo>
                  <a:pt x="91288" y="215788"/>
                  <a:pt x="107894" y="199182"/>
                  <a:pt x="107894" y="178699"/>
                </a:cubicBezTo>
                <a:cubicBezTo>
                  <a:pt x="107894" y="158216"/>
                  <a:pt x="91288" y="141611"/>
                  <a:pt x="70805" y="141611"/>
                </a:cubicBezTo>
                <a:lnTo>
                  <a:pt x="13487" y="141611"/>
                </a:lnTo>
                <a:cubicBezTo>
                  <a:pt x="6027" y="141611"/>
                  <a:pt x="0" y="147638"/>
                  <a:pt x="0" y="155097"/>
                </a:cubicBezTo>
                <a:cubicBezTo>
                  <a:pt x="0" y="162557"/>
                  <a:pt x="6027" y="168584"/>
                  <a:pt x="13487" y="168584"/>
                </a:cubicBezTo>
                <a:lnTo>
                  <a:pt x="70805" y="168584"/>
                </a:lnTo>
                <a:cubicBezTo>
                  <a:pt x="76411" y="168584"/>
                  <a:pt x="80920" y="173094"/>
                  <a:pt x="80920" y="178699"/>
                </a:cubicBezTo>
                <a:cubicBezTo>
                  <a:pt x="80920" y="184305"/>
                  <a:pt x="76411" y="188814"/>
                  <a:pt x="70805" y="188814"/>
                </a:cubicBezTo>
                <a:lnTo>
                  <a:pt x="53947" y="188814"/>
                </a:lnTo>
                <a:cubicBezTo>
                  <a:pt x="46487" y="188814"/>
                  <a:pt x="40460" y="194841"/>
                  <a:pt x="40460" y="202301"/>
                </a:cubicBezTo>
                <a:cubicBezTo>
                  <a:pt x="40460" y="209761"/>
                  <a:pt x="46487" y="215788"/>
                  <a:pt x="53947" y="215788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88920" y="2886159"/>
            <a:ext cx="245458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SCD41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3416" y="3065982"/>
            <a:ext cx="2445593" cy="13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Inlet CO₂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2293" y="2486053"/>
            <a:ext cx="2616425" cy="827186"/>
          </a:xfrm>
          <a:prstGeom prst="roundRect">
            <a:avLst>
              <a:gd name="adj" fmla="val 8696"/>
            </a:avLst>
          </a:prstGeom>
          <a:solidFill>
            <a:srgbClr val="ECFEFF"/>
          </a:solidFill>
          <a:ln w="12700">
            <a:solidFill>
              <a:srgbClr val="A2F4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0007" y="2598442"/>
            <a:ext cx="161841" cy="215788"/>
          </a:xfrm>
          <a:custGeom>
            <a:avLst/>
            <a:gdLst/>
            <a:ahLst/>
            <a:cxnLst/>
            <a:rect l="l" t="t" r="r" b="b"/>
            <a:pathLst>
              <a:path w="161841" h="215788">
                <a:moveTo>
                  <a:pt x="80920" y="215788"/>
                </a:moveTo>
                <a:cubicBezTo>
                  <a:pt x="36246" y="215788"/>
                  <a:pt x="0" y="179542"/>
                  <a:pt x="0" y="134867"/>
                </a:cubicBezTo>
                <a:cubicBezTo>
                  <a:pt x="0" y="96430"/>
                  <a:pt x="54874" y="19345"/>
                  <a:pt x="70215" y="-1475"/>
                </a:cubicBezTo>
                <a:cubicBezTo>
                  <a:pt x="72702" y="-4847"/>
                  <a:pt x="76621" y="-6743"/>
                  <a:pt x="80836" y="-6743"/>
                </a:cubicBezTo>
                <a:lnTo>
                  <a:pt x="81005" y="-6743"/>
                </a:lnTo>
                <a:cubicBezTo>
                  <a:pt x="85219" y="-6743"/>
                  <a:pt x="89139" y="-4847"/>
                  <a:pt x="91625" y="-1475"/>
                </a:cubicBezTo>
                <a:cubicBezTo>
                  <a:pt x="106967" y="19345"/>
                  <a:pt x="161841" y="96430"/>
                  <a:pt x="161841" y="134867"/>
                </a:cubicBezTo>
                <a:cubicBezTo>
                  <a:pt x="161841" y="179542"/>
                  <a:pt x="125595" y="215788"/>
                  <a:pt x="80920" y="215788"/>
                </a:cubicBezTo>
                <a:close/>
                <a:moveTo>
                  <a:pt x="47204" y="131496"/>
                </a:moveTo>
                <a:cubicBezTo>
                  <a:pt x="47204" y="125890"/>
                  <a:pt x="42694" y="121381"/>
                  <a:pt x="37088" y="121381"/>
                </a:cubicBezTo>
                <a:cubicBezTo>
                  <a:pt x="31483" y="121381"/>
                  <a:pt x="26973" y="125890"/>
                  <a:pt x="26973" y="131496"/>
                </a:cubicBezTo>
                <a:cubicBezTo>
                  <a:pt x="26973" y="163147"/>
                  <a:pt x="52640" y="188814"/>
                  <a:pt x="84292" y="188814"/>
                </a:cubicBezTo>
                <a:cubicBezTo>
                  <a:pt x="89897" y="188814"/>
                  <a:pt x="94407" y="184305"/>
                  <a:pt x="94407" y="178699"/>
                </a:cubicBezTo>
                <a:cubicBezTo>
                  <a:pt x="94407" y="173094"/>
                  <a:pt x="89897" y="168584"/>
                  <a:pt x="84292" y="168584"/>
                </a:cubicBezTo>
                <a:cubicBezTo>
                  <a:pt x="63809" y="168584"/>
                  <a:pt x="47204" y="151979"/>
                  <a:pt x="47204" y="131496"/>
                </a:cubicBezTo>
                <a:close/>
              </a:path>
            </a:pathLst>
          </a:custGeom>
          <a:solidFill>
            <a:srgbClr val="00B8DB"/>
          </a:solidFill>
          <a:ln/>
        </p:spPr>
      </p:sp>
      <p:sp>
        <p:nvSpPr>
          <p:cNvPr id="16" name="Text 14"/>
          <p:cNvSpPr/>
          <p:nvPr/>
        </p:nvSpPr>
        <p:spPr>
          <a:xfrm>
            <a:off x="3323213" y="2886159"/>
            <a:ext cx="245458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SHT30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7709" y="3065982"/>
            <a:ext cx="2445593" cy="13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Humidity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430124"/>
            <a:ext cx="2616425" cy="827186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49200" y="3542513"/>
            <a:ext cx="134867" cy="215788"/>
          </a:xfrm>
          <a:custGeom>
            <a:avLst/>
            <a:gdLst/>
            <a:ahLst/>
            <a:cxnLst/>
            <a:rect l="l" t="t" r="r" b="b"/>
            <a:pathLst>
              <a:path w="134867" h="215788">
                <a:moveTo>
                  <a:pt x="67434" y="0"/>
                </a:moveTo>
                <a:cubicBezTo>
                  <a:pt x="45096" y="0"/>
                  <a:pt x="26973" y="18123"/>
                  <a:pt x="26973" y="40460"/>
                </a:cubicBezTo>
                <a:lnTo>
                  <a:pt x="26973" y="109875"/>
                </a:lnTo>
                <a:cubicBezTo>
                  <a:pt x="14540" y="120959"/>
                  <a:pt x="6743" y="137143"/>
                  <a:pt x="6743" y="155097"/>
                </a:cubicBezTo>
                <a:cubicBezTo>
                  <a:pt x="6743" y="188603"/>
                  <a:pt x="33928" y="215788"/>
                  <a:pt x="67434" y="215788"/>
                </a:cubicBezTo>
                <a:cubicBezTo>
                  <a:pt x="100940" y="215788"/>
                  <a:pt x="128124" y="188603"/>
                  <a:pt x="128124" y="155097"/>
                </a:cubicBezTo>
                <a:cubicBezTo>
                  <a:pt x="128124" y="137143"/>
                  <a:pt x="120327" y="120959"/>
                  <a:pt x="107894" y="109875"/>
                </a:cubicBezTo>
                <a:lnTo>
                  <a:pt x="107894" y="40460"/>
                </a:lnTo>
                <a:cubicBezTo>
                  <a:pt x="107894" y="18123"/>
                  <a:pt x="89771" y="0"/>
                  <a:pt x="67434" y="0"/>
                </a:cubicBezTo>
                <a:close/>
                <a:moveTo>
                  <a:pt x="94407" y="155097"/>
                </a:moveTo>
                <a:cubicBezTo>
                  <a:pt x="94407" y="169975"/>
                  <a:pt x="82311" y="182071"/>
                  <a:pt x="67434" y="182071"/>
                </a:cubicBezTo>
                <a:cubicBezTo>
                  <a:pt x="52556" y="182071"/>
                  <a:pt x="40460" y="169975"/>
                  <a:pt x="40460" y="155097"/>
                </a:cubicBezTo>
                <a:cubicBezTo>
                  <a:pt x="40460" y="143760"/>
                  <a:pt x="47414" y="134066"/>
                  <a:pt x="57319" y="130105"/>
                </a:cubicBezTo>
                <a:lnTo>
                  <a:pt x="57319" y="91035"/>
                </a:lnTo>
                <a:cubicBezTo>
                  <a:pt x="57319" y="85430"/>
                  <a:pt x="61828" y="80920"/>
                  <a:pt x="67434" y="80920"/>
                </a:cubicBezTo>
                <a:cubicBezTo>
                  <a:pt x="73039" y="80920"/>
                  <a:pt x="77549" y="85430"/>
                  <a:pt x="77549" y="91035"/>
                </a:cubicBezTo>
                <a:lnTo>
                  <a:pt x="77549" y="130105"/>
                </a:lnTo>
                <a:cubicBezTo>
                  <a:pt x="87453" y="134109"/>
                  <a:pt x="94407" y="143802"/>
                  <a:pt x="94407" y="155097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0" name="Text 18"/>
          <p:cNvSpPr/>
          <p:nvPr/>
        </p:nvSpPr>
        <p:spPr>
          <a:xfrm>
            <a:off x="588920" y="3830230"/>
            <a:ext cx="245458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DS18B20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3416" y="4010053"/>
            <a:ext cx="2445593" cy="13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Bed Temp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42293" y="3430124"/>
            <a:ext cx="2616425" cy="827186"/>
          </a:xfrm>
          <a:prstGeom prst="roundRect">
            <a:avLst>
              <a:gd name="adj" fmla="val 8696"/>
            </a:avLst>
          </a:prstGeom>
          <a:solidFill>
            <a:srgbClr val="FAF5FF"/>
          </a:solidFill>
          <a:ln w="12700">
            <a:solidFill>
              <a:srgbClr val="E9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3033" y="3542513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192186" y="94407"/>
                </a:moveTo>
                <a:lnTo>
                  <a:pt x="131496" y="94407"/>
                </a:lnTo>
                <a:cubicBezTo>
                  <a:pt x="125890" y="94407"/>
                  <a:pt x="121381" y="89897"/>
                  <a:pt x="121381" y="84292"/>
                </a:cubicBezTo>
                <a:lnTo>
                  <a:pt x="121381" y="23602"/>
                </a:lnTo>
                <a:cubicBezTo>
                  <a:pt x="121381" y="19514"/>
                  <a:pt x="123825" y="15805"/>
                  <a:pt x="127618" y="14245"/>
                </a:cubicBezTo>
                <a:cubicBezTo>
                  <a:pt x="131411" y="12686"/>
                  <a:pt x="135752" y="13571"/>
                  <a:pt x="138660" y="16437"/>
                </a:cubicBezTo>
                <a:lnTo>
                  <a:pt x="155519" y="33295"/>
                </a:lnTo>
                <a:lnTo>
                  <a:pt x="186454" y="2360"/>
                </a:lnTo>
                <a:cubicBezTo>
                  <a:pt x="187971" y="843"/>
                  <a:pt x="190036" y="0"/>
                  <a:pt x="192186" y="0"/>
                </a:cubicBezTo>
                <a:cubicBezTo>
                  <a:pt x="194335" y="0"/>
                  <a:pt x="196400" y="843"/>
                  <a:pt x="197960" y="2402"/>
                </a:cubicBezTo>
                <a:lnTo>
                  <a:pt x="213427" y="17870"/>
                </a:lnTo>
                <a:cubicBezTo>
                  <a:pt x="214945" y="19387"/>
                  <a:pt x="215788" y="21452"/>
                  <a:pt x="215788" y="23602"/>
                </a:cubicBezTo>
                <a:cubicBezTo>
                  <a:pt x="215788" y="25751"/>
                  <a:pt x="214945" y="27816"/>
                  <a:pt x="213385" y="29376"/>
                </a:cubicBezTo>
                <a:lnTo>
                  <a:pt x="182492" y="60269"/>
                </a:lnTo>
                <a:lnTo>
                  <a:pt x="199351" y="77127"/>
                </a:lnTo>
                <a:cubicBezTo>
                  <a:pt x="202259" y="80035"/>
                  <a:pt x="203102" y="84376"/>
                  <a:pt x="201542" y="88169"/>
                </a:cubicBezTo>
                <a:cubicBezTo>
                  <a:pt x="199983" y="91963"/>
                  <a:pt x="196274" y="94407"/>
                  <a:pt x="192186" y="94407"/>
                </a:cubicBezTo>
                <a:close/>
                <a:moveTo>
                  <a:pt x="192186" y="121381"/>
                </a:moveTo>
                <a:cubicBezTo>
                  <a:pt x="196274" y="121381"/>
                  <a:pt x="199983" y="123825"/>
                  <a:pt x="201542" y="127618"/>
                </a:cubicBezTo>
                <a:cubicBezTo>
                  <a:pt x="203102" y="131411"/>
                  <a:pt x="202259" y="135752"/>
                  <a:pt x="199351" y="138660"/>
                </a:cubicBezTo>
                <a:lnTo>
                  <a:pt x="182492" y="155519"/>
                </a:lnTo>
                <a:lnTo>
                  <a:pt x="213427" y="186454"/>
                </a:lnTo>
                <a:cubicBezTo>
                  <a:pt x="214945" y="187971"/>
                  <a:pt x="215830" y="190036"/>
                  <a:pt x="215830" y="192228"/>
                </a:cubicBezTo>
                <a:cubicBezTo>
                  <a:pt x="215830" y="194420"/>
                  <a:pt x="214987" y="196443"/>
                  <a:pt x="213427" y="198002"/>
                </a:cubicBezTo>
                <a:lnTo>
                  <a:pt x="197960" y="213470"/>
                </a:lnTo>
                <a:cubicBezTo>
                  <a:pt x="196400" y="214945"/>
                  <a:pt x="194335" y="215788"/>
                  <a:pt x="192186" y="215788"/>
                </a:cubicBezTo>
                <a:cubicBezTo>
                  <a:pt x="190036" y="215788"/>
                  <a:pt x="187971" y="214945"/>
                  <a:pt x="186412" y="213385"/>
                </a:cubicBezTo>
                <a:lnTo>
                  <a:pt x="155519" y="182492"/>
                </a:lnTo>
                <a:lnTo>
                  <a:pt x="138660" y="199351"/>
                </a:lnTo>
                <a:cubicBezTo>
                  <a:pt x="135752" y="202259"/>
                  <a:pt x="131411" y="203102"/>
                  <a:pt x="127618" y="201542"/>
                </a:cubicBezTo>
                <a:cubicBezTo>
                  <a:pt x="123825" y="199983"/>
                  <a:pt x="121381" y="196274"/>
                  <a:pt x="121381" y="192186"/>
                </a:cubicBezTo>
                <a:lnTo>
                  <a:pt x="121381" y="131496"/>
                </a:lnTo>
                <a:cubicBezTo>
                  <a:pt x="121381" y="125890"/>
                  <a:pt x="125890" y="121381"/>
                  <a:pt x="131496" y="121381"/>
                </a:cubicBezTo>
                <a:lnTo>
                  <a:pt x="192186" y="121381"/>
                </a:lnTo>
                <a:close/>
                <a:moveTo>
                  <a:pt x="84292" y="121381"/>
                </a:moveTo>
                <a:cubicBezTo>
                  <a:pt x="89897" y="121381"/>
                  <a:pt x="94407" y="125890"/>
                  <a:pt x="94407" y="131496"/>
                </a:cubicBezTo>
                <a:lnTo>
                  <a:pt x="94407" y="192186"/>
                </a:lnTo>
                <a:cubicBezTo>
                  <a:pt x="94407" y="196274"/>
                  <a:pt x="91963" y="199983"/>
                  <a:pt x="88169" y="201542"/>
                </a:cubicBezTo>
                <a:cubicBezTo>
                  <a:pt x="84376" y="203102"/>
                  <a:pt x="80035" y="202259"/>
                  <a:pt x="77127" y="199351"/>
                </a:cubicBezTo>
                <a:lnTo>
                  <a:pt x="60269" y="182492"/>
                </a:lnTo>
                <a:lnTo>
                  <a:pt x="29334" y="213427"/>
                </a:lnTo>
                <a:cubicBezTo>
                  <a:pt x="27816" y="214945"/>
                  <a:pt x="25751" y="215788"/>
                  <a:pt x="23602" y="215788"/>
                </a:cubicBezTo>
                <a:cubicBezTo>
                  <a:pt x="21452" y="215788"/>
                  <a:pt x="19387" y="214945"/>
                  <a:pt x="17828" y="213385"/>
                </a:cubicBezTo>
                <a:lnTo>
                  <a:pt x="2402" y="197960"/>
                </a:lnTo>
                <a:cubicBezTo>
                  <a:pt x="843" y="196400"/>
                  <a:pt x="0" y="194335"/>
                  <a:pt x="0" y="192186"/>
                </a:cubicBezTo>
                <a:cubicBezTo>
                  <a:pt x="0" y="190036"/>
                  <a:pt x="843" y="187971"/>
                  <a:pt x="2402" y="186412"/>
                </a:cubicBezTo>
                <a:lnTo>
                  <a:pt x="33295" y="155519"/>
                </a:lnTo>
                <a:lnTo>
                  <a:pt x="16437" y="138660"/>
                </a:lnTo>
                <a:cubicBezTo>
                  <a:pt x="13529" y="135752"/>
                  <a:pt x="12686" y="131411"/>
                  <a:pt x="14245" y="127618"/>
                </a:cubicBezTo>
                <a:cubicBezTo>
                  <a:pt x="15805" y="123825"/>
                  <a:pt x="19514" y="121381"/>
                  <a:pt x="23602" y="121381"/>
                </a:cubicBezTo>
                <a:lnTo>
                  <a:pt x="84292" y="121381"/>
                </a:lnTo>
                <a:close/>
                <a:moveTo>
                  <a:pt x="23602" y="94407"/>
                </a:moveTo>
                <a:cubicBezTo>
                  <a:pt x="19514" y="94407"/>
                  <a:pt x="15805" y="91963"/>
                  <a:pt x="14245" y="88169"/>
                </a:cubicBezTo>
                <a:cubicBezTo>
                  <a:pt x="12686" y="84376"/>
                  <a:pt x="13571" y="80035"/>
                  <a:pt x="16437" y="77127"/>
                </a:cubicBezTo>
                <a:lnTo>
                  <a:pt x="33295" y="60269"/>
                </a:lnTo>
                <a:lnTo>
                  <a:pt x="2402" y="29376"/>
                </a:lnTo>
                <a:cubicBezTo>
                  <a:pt x="843" y="27816"/>
                  <a:pt x="0" y="25751"/>
                  <a:pt x="0" y="23602"/>
                </a:cubicBezTo>
                <a:cubicBezTo>
                  <a:pt x="0" y="21452"/>
                  <a:pt x="843" y="19387"/>
                  <a:pt x="2402" y="17828"/>
                </a:cubicBezTo>
                <a:lnTo>
                  <a:pt x="17828" y="2402"/>
                </a:lnTo>
                <a:cubicBezTo>
                  <a:pt x="19387" y="843"/>
                  <a:pt x="21452" y="0"/>
                  <a:pt x="23602" y="0"/>
                </a:cubicBezTo>
                <a:cubicBezTo>
                  <a:pt x="25751" y="0"/>
                  <a:pt x="27816" y="843"/>
                  <a:pt x="29376" y="2402"/>
                </a:cubicBezTo>
                <a:lnTo>
                  <a:pt x="60269" y="33295"/>
                </a:lnTo>
                <a:lnTo>
                  <a:pt x="77127" y="16437"/>
                </a:lnTo>
                <a:cubicBezTo>
                  <a:pt x="80035" y="13529"/>
                  <a:pt x="84376" y="12686"/>
                  <a:pt x="88169" y="14245"/>
                </a:cubicBezTo>
                <a:cubicBezTo>
                  <a:pt x="91963" y="15805"/>
                  <a:pt x="94407" y="19514"/>
                  <a:pt x="94407" y="23602"/>
                </a:cubicBezTo>
                <a:lnTo>
                  <a:pt x="94407" y="84292"/>
                </a:lnTo>
                <a:cubicBezTo>
                  <a:pt x="94407" y="89897"/>
                  <a:pt x="89897" y="94407"/>
                  <a:pt x="84292" y="94407"/>
                </a:cubicBezTo>
                <a:lnTo>
                  <a:pt x="23602" y="94407"/>
                </a:ln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24" name="Text 22"/>
          <p:cNvSpPr/>
          <p:nvPr/>
        </p:nvSpPr>
        <p:spPr>
          <a:xfrm>
            <a:off x="3323213" y="3830230"/>
            <a:ext cx="245458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BMP280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27709" y="4010053"/>
            <a:ext cx="2445593" cy="13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Chamber Pressure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4374195"/>
            <a:ext cx="2616425" cy="827186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 w="12700">
            <a:solidFill>
              <a:srgbClr val="C6D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22227" y="4486584"/>
            <a:ext cx="188814" cy="215788"/>
          </a:xfrm>
          <a:custGeom>
            <a:avLst/>
            <a:gdLst/>
            <a:ahLst/>
            <a:cxnLst/>
            <a:rect l="l" t="t" r="r" b="b"/>
            <a:pathLst>
              <a:path w="188814" h="215788">
                <a:moveTo>
                  <a:pt x="67434" y="26973"/>
                </a:moveTo>
                <a:cubicBezTo>
                  <a:pt x="67434" y="19514"/>
                  <a:pt x="61407" y="13487"/>
                  <a:pt x="53947" y="13487"/>
                </a:cubicBezTo>
                <a:cubicBezTo>
                  <a:pt x="46487" y="13487"/>
                  <a:pt x="40460" y="19514"/>
                  <a:pt x="40460" y="26973"/>
                </a:cubicBezTo>
                <a:lnTo>
                  <a:pt x="40460" y="53947"/>
                </a:lnTo>
                <a:lnTo>
                  <a:pt x="13487" y="53947"/>
                </a:lnTo>
                <a:cubicBezTo>
                  <a:pt x="6027" y="53947"/>
                  <a:pt x="0" y="59974"/>
                  <a:pt x="0" y="67434"/>
                </a:cubicBezTo>
                <a:cubicBezTo>
                  <a:pt x="0" y="74893"/>
                  <a:pt x="6027" y="80920"/>
                  <a:pt x="13487" y="80920"/>
                </a:cubicBezTo>
                <a:lnTo>
                  <a:pt x="53947" y="80920"/>
                </a:lnTo>
                <a:cubicBezTo>
                  <a:pt x="61407" y="80920"/>
                  <a:pt x="67434" y="74893"/>
                  <a:pt x="67434" y="67434"/>
                </a:cubicBezTo>
                <a:lnTo>
                  <a:pt x="67434" y="26973"/>
                </a:lnTo>
                <a:close/>
                <a:moveTo>
                  <a:pt x="13487" y="134867"/>
                </a:moveTo>
                <a:cubicBezTo>
                  <a:pt x="6027" y="134867"/>
                  <a:pt x="0" y="140894"/>
                  <a:pt x="0" y="148354"/>
                </a:cubicBezTo>
                <a:cubicBezTo>
                  <a:pt x="0" y="155814"/>
                  <a:pt x="6027" y="161841"/>
                  <a:pt x="13487" y="161841"/>
                </a:cubicBezTo>
                <a:lnTo>
                  <a:pt x="40460" y="161841"/>
                </a:lnTo>
                <a:lnTo>
                  <a:pt x="40460" y="188814"/>
                </a:lnTo>
                <a:cubicBezTo>
                  <a:pt x="40460" y="196274"/>
                  <a:pt x="46487" y="202301"/>
                  <a:pt x="53947" y="202301"/>
                </a:cubicBezTo>
                <a:cubicBezTo>
                  <a:pt x="61407" y="202301"/>
                  <a:pt x="67434" y="196274"/>
                  <a:pt x="67434" y="188814"/>
                </a:cubicBezTo>
                <a:lnTo>
                  <a:pt x="67434" y="148354"/>
                </a:lnTo>
                <a:cubicBezTo>
                  <a:pt x="67434" y="140894"/>
                  <a:pt x="61407" y="134867"/>
                  <a:pt x="53947" y="134867"/>
                </a:cubicBezTo>
                <a:lnTo>
                  <a:pt x="13487" y="134867"/>
                </a:lnTo>
                <a:close/>
                <a:moveTo>
                  <a:pt x="148354" y="26973"/>
                </a:moveTo>
                <a:cubicBezTo>
                  <a:pt x="148354" y="19514"/>
                  <a:pt x="142327" y="13487"/>
                  <a:pt x="134867" y="13487"/>
                </a:cubicBezTo>
                <a:cubicBezTo>
                  <a:pt x="127407" y="13487"/>
                  <a:pt x="121381" y="19514"/>
                  <a:pt x="121381" y="26973"/>
                </a:cubicBezTo>
                <a:lnTo>
                  <a:pt x="121381" y="67434"/>
                </a:lnTo>
                <a:cubicBezTo>
                  <a:pt x="121381" y="74893"/>
                  <a:pt x="127407" y="80920"/>
                  <a:pt x="134867" y="80920"/>
                </a:cubicBezTo>
                <a:lnTo>
                  <a:pt x="175327" y="80920"/>
                </a:lnTo>
                <a:cubicBezTo>
                  <a:pt x="182787" y="80920"/>
                  <a:pt x="188814" y="74893"/>
                  <a:pt x="188814" y="67434"/>
                </a:cubicBezTo>
                <a:cubicBezTo>
                  <a:pt x="188814" y="59974"/>
                  <a:pt x="182787" y="53947"/>
                  <a:pt x="175327" y="53947"/>
                </a:cubicBezTo>
                <a:lnTo>
                  <a:pt x="148354" y="53947"/>
                </a:lnTo>
                <a:lnTo>
                  <a:pt x="148354" y="26973"/>
                </a:lnTo>
                <a:close/>
                <a:moveTo>
                  <a:pt x="134867" y="134867"/>
                </a:moveTo>
                <a:cubicBezTo>
                  <a:pt x="127407" y="134867"/>
                  <a:pt x="121381" y="140894"/>
                  <a:pt x="121381" y="148354"/>
                </a:cubicBezTo>
                <a:lnTo>
                  <a:pt x="121381" y="188814"/>
                </a:lnTo>
                <a:cubicBezTo>
                  <a:pt x="121381" y="196274"/>
                  <a:pt x="127407" y="202301"/>
                  <a:pt x="134867" y="202301"/>
                </a:cubicBezTo>
                <a:cubicBezTo>
                  <a:pt x="142327" y="202301"/>
                  <a:pt x="148354" y="196274"/>
                  <a:pt x="148354" y="188814"/>
                </a:cubicBezTo>
                <a:lnTo>
                  <a:pt x="148354" y="161841"/>
                </a:lnTo>
                <a:lnTo>
                  <a:pt x="175327" y="161841"/>
                </a:lnTo>
                <a:cubicBezTo>
                  <a:pt x="182787" y="161841"/>
                  <a:pt x="188814" y="155814"/>
                  <a:pt x="188814" y="148354"/>
                </a:cubicBezTo>
                <a:cubicBezTo>
                  <a:pt x="188814" y="140894"/>
                  <a:pt x="182787" y="134867"/>
                  <a:pt x="175327" y="134867"/>
                </a:cubicBezTo>
                <a:lnTo>
                  <a:pt x="134867" y="134867"/>
                </a:lnTo>
                <a:close/>
              </a:path>
            </a:pathLst>
          </a:custGeom>
          <a:solidFill>
            <a:srgbClr val="615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88920" y="4774301"/>
            <a:ext cx="245458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BMP280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3416" y="4954124"/>
            <a:ext cx="2445593" cy="13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Buffer Pressure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42293" y="4374195"/>
            <a:ext cx="2616425" cy="827186"/>
          </a:xfrm>
          <a:prstGeom prst="roundRect">
            <a:avLst>
              <a:gd name="adj" fmla="val 8696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43033" y="4486584"/>
            <a:ext cx="215788" cy="215788"/>
          </a:xfrm>
          <a:custGeom>
            <a:avLst/>
            <a:gdLst/>
            <a:ahLst/>
            <a:cxnLst/>
            <a:rect l="l" t="t" r="r" b="b"/>
            <a:pathLst>
              <a:path w="215788" h="215788">
                <a:moveTo>
                  <a:pt x="26973" y="13487"/>
                </a:moveTo>
                <a:cubicBezTo>
                  <a:pt x="12096" y="13487"/>
                  <a:pt x="0" y="25583"/>
                  <a:pt x="0" y="40460"/>
                </a:cubicBezTo>
                <a:lnTo>
                  <a:pt x="0" y="148354"/>
                </a:lnTo>
                <a:cubicBezTo>
                  <a:pt x="0" y="163232"/>
                  <a:pt x="12096" y="175327"/>
                  <a:pt x="26973" y="175327"/>
                </a:cubicBezTo>
                <a:lnTo>
                  <a:pt x="87664" y="175327"/>
                </a:lnTo>
                <a:lnTo>
                  <a:pt x="80920" y="195558"/>
                </a:lnTo>
                <a:lnTo>
                  <a:pt x="50575" y="195558"/>
                </a:lnTo>
                <a:cubicBezTo>
                  <a:pt x="44970" y="195558"/>
                  <a:pt x="40460" y="200067"/>
                  <a:pt x="40460" y="205673"/>
                </a:cubicBezTo>
                <a:cubicBezTo>
                  <a:pt x="40460" y="211278"/>
                  <a:pt x="44970" y="215788"/>
                  <a:pt x="50575" y="215788"/>
                </a:cubicBezTo>
                <a:lnTo>
                  <a:pt x="165212" y="215788"/>
                </a:lnTo>
                <a:cubicBezTo>
                  <a:pt x="170818" y="215788"/>
                  <a:pt x="175327" y="211278"/>
                  <a:pt x="175327" y="205673"/>
                </a:cubicBezTo>
                <a:cubicBezTo>
                  <a:pt x="175327" y="200067"/>
                  <a:pt x="170818" y="195558"/>
                  <a:pt x="165212" y="195558"/>
                </a:cubicBezTo>
                <a:lnTo>
                  <a:pt x="134867" y="195558"/>
                </a:lnTo>
                <a:lnTo>
                  <a:pt x="128124" y="175327"/>
                </a:lnTo>
                <a:lnTo>
                  <a:pt x="188814" y="175327"/>
                </a:lnTo>
                <a:cubicBezTo>
                  <a:pt x="203692" y="175327"/>
                  <a:pt x="215788" y="163232"/>
                  <a:pt x="215788" y="148354"/>
                </a:cubicBezTo>
                <a:lnTo>
                  <a:pt x="215788" y="40460"/>
                </a:lnTo>
                <a:cubicBezTo>
                  <a:pt x="215788" y="25583"/>
                  <a:pt x="203692" y="13487"/>
                  <a:pt x="188814" y="13487"/>
                </a:cubicBezTo>
                <a:lnTo>
                  <a:pt x="26973" y="13487"/>
                </a:lnTo>
                <a:close/>
                <a:moveTo>
                  <a:pt x="40460" y="40460"/>
                </a:moveTo>
                <a:lnTo>
                  <a:pt x="175327" y="40460"/>
                </a:lnTo>
                <a:cubicBezTo>
                  <a:pt x="182787" y="40460"/>
                  <a:pt x="188814" y="46487"/>
                  <a:pt x="188814" y="53947"/>
                </a:cubicBezTo>
                <a:lnTo>
                  <a:pt x="188814" y="121381"/>
                </a:lnTo>
                <a:cubicBezTo>
                  <a:pt x="188814" y="128840"/>
                  <a:pt x="182787" y="134867"/>
                  <a:pt x="175327" y="134867"/>
                </a:cubicBezTo>
                <a:lnTo>
                  <a:pt x="40460" y="134867"/>
                </a:lnTo>
                <a:cubicBezTo>
                  <a:pt x="33000" y="134867"/>
                  <a:pt x="26973" y="128840"/>
                  <a:pt x="26973" y="121381"/>
                </a:cubicBezTo>
                <a:lnTo>
                  <a:pt x="26973" y="53947"/>
                </a:lnTo>
                <a:cubicBezTo>
                  <a:pt x="26973" y="46487"/>
                  <a:pt x="33000" y="40460"/>
                  <a:pt x="40460" y="40460"/>
                </a:cubicBez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32" name="Text 30"/>
          <p:cNvSpPr/>
          <p:nvPr/>
        </p:nvSpPr>
        <p:spPr>
          <a:xfrm>
            <a:off x="3323213" y="4774301"/>
            <a:ext cx="245458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27709" y="4954124"/>
            <a:ext cx="2445593" cy="13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Display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2035" y="5313770"/>
            <a:ext cx="5421664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0083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closed-loop control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7878" y="1798230"/>
            <a:ext cx="5646442" cy="3839221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/>
          <a:effectLst>
            <a:outerShdw blurRad="26973" dist="899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31737" y="1942088"/>
            <a:ext cx="359646" cy="359646"/>
          </a:xfrm>
          <a:prstGeom prst="roundRect">
            <a:avLst>
              <a:gd name="adj" fmla="val 50000"/>
            </a:avLst>
          </a:prstGeom>
          <a:solidFill>
            <a:srgbClr val="D32F2F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1648" y="2032000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89912" y="0"/>
                </a:moveTo>
                <a:cubicBezTo>
                  <a:pt x="91527" y="0"/>
                  <a:pt x="93143" y="351"/>
                  <a:pt x="94618" y="1019"/>
                </a:cubicBezTo>
                <a:lnTo>
                  <a:pt x="160787" y="29081"/>
                </a:lnTo>
                <a:cubicBezTo>
                  <a:pt x="168514" y="32347"/>
                  <a:pt x="174274" y="39968"/>
                  <a:pt x="174239" y="49170"/>
                </a:cubicBezTo>
                <a:cubicBezTo>
                  <a:pt x="174063" y="84011"/>
                  <a:pt x="159733" y="147757"/>
                  <a:pt x="99219" y="176732"/>
                </a:cubicBezTo>
                <a:cubicBezTo>
                  <a:pt x="93353" y="179542"/>
                  <a:pt x="86540" y="179542"/>
                  <a:pt x="80675" y="176732"/>
                </a:cubicBezTo>
                <a:cubicBezTo>
                  <a:pt x="20125" y="147757"/>
                  <a:pt x="5830" y="84011"/>
                  <a:pt x="5655" y="49170"/>
                </a:cubicBezTo>
                <a:cubicBezTo>
                  <a:pt x="5619" y="39968"/>
                  <a:pt x="11379" y="32347"/>
                  <a:pt x="19106" y="29081"/>
                </a:cubicBezTo>
                <a:lnTo>
                  <a:pt x="85240" y="1019"/>
                </a:lnTo>
                <a:cubicBezTo>
                  <a:pt x="86715" y="351"/>
                  <a:pt x="88296" y="0"/>
                  <a:pt x="89912" y="0"/>
                </a:cubicBezTo>
                <a:close/>
                <a:moveTo>
                  <a:pt x="89912" y="23461"/>
                </a:moveTo>
                <a:lnTo>
                  <a:pt x="89912" y="156256"/>
                </a:lnTo>
                <a:cubicBezTo>
                  <a:pt x="138379" y="132795"/>
                  <a:pt x="151410" y="80815"/>
                  <a:pt x="151726" y="49697"/>
                </a:cubicBezTo>
                <a:lnTo>
                  <a:pt x="89912" y="23496"/>
                </a:lnTo>
                <a:lnTo>
                  <a:pt x="89912" y="23496"/>
                </a:ln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38" name="Text 36"/>
          <p:cNvSpPr/>
          <p:nvPr/>
        </p:nvSpPr>
        <p:spPr>
          <a:xfrm>
            <a:off x="6799277" y="1996035"/>
            <a:ext cx="1231788" cy="25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6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Layers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9719" y="2445593"/>
            <a:ext cx="5340743" cy="503504"/>
          </a:xfrm>
          <a:custGeom>
            <a:avLst/>
            <a:gdLst/>
            <a:ahLst/>
            <a:cxnLst/>
            <a:rect l="l" t="t" r="r" b="b"/>
            <a:pathLst>
              <a:path w="5340743" h="503504">
                <a:moveTo>
                  <a:pt x="35941" y="0"/>
                </a:moveTo>
                <a:lnTo>
                  <a:pt x="5268849" y="0"/>
                </a:lnTo>
                <a:cubicBezTo>
                  <a:pt x="5308548" y="0"/>
                  <a:pt x="5340731" y="32183"/>
                  <a:pt x="5340731" y="71882"/>
                </a:cubicBezTo>
                <a:lnTo>
                  <a:pt x="5340731" y="431546"/>
                </a:lnTo>
                <a:cubicBezTo>
                  <a:pt x="5340765" y="450632"/>
                  <a:pt x="5333206" y="468948"/>
                  <a:pt x="5319722" y="482456"/>
                </a:cubicBezTo>
                <a:cubicBezTo>
                  <a:pt x="5306238" y="495964"/>
                  <a:pt x="5287935" y="503555"/>
                  <a:pt x="5268849" y="503555"/>
                </a:cubicBez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349719" y="2445593"/>
            <a:ext cx="35965" cy="503504"/>
          </a:xfrm>
          <a:custGeom>
            <a:avLst/>
            <a:gdLst/>
            <a:ahLst/>
            <a:cxnLst/>
            <a:rect l="l" t="t" r="r" b="b"/>
            <a:pathLst>
              <a:path w="35965" h="503504">
                <a:moveTo>
                  <a:pt x="35941" y="0"/>
                </a:moveTo>
                <a:lnTo>
                  <a:pt x="35941" y="0"/>
                </a:lnTo>
                <a:lnTo>
                  <a:pt x="35941" y="503555"/>
                </a:ln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5595" y="2553487"/>
            <a:ext cx="287717" cy="287717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42" name="Text 40"/>
          <p:cNvSpPr/>
          <p:nvPr/>
        </p:nvSpPr>
        <p:spPr>
          <a:xfrm>
            <a:off x="6444126" y="2553487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1206" y="2589451"/>
            <a:ext cx="1402619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Pressure Relief Valve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9719" y="3056991"/>
            <a:ext cx="5340743" cy="503504"/>
          </a:xfrm>
          <a:custGeom>
            <a:avLst/>
            <a:gdLst/>
            <a:ahLst/>
            <a:cxnLst/>
            <a:rect l="l" t="t" r="r" b="b"/>
            <a:pathLst>
              <a:path w="5340743" h="503504">
                <a:moveTo>
                  <a:pt x="35941" y="0"/>
                </a:moveTo>
                <a:lnTo>
                  <a:pt x="5268849" y="0"/>
                </a:lnTo>
                <a:cubicBezTo>
                  <a:pt x="5308548" y="0"/>
                  <a:pt x="5340731" y="32183"/>
                  <a:pt x="5340731" y="71882"/>
                </a:cubicBezTo>
                <a:lnTo>
                  <a:pt x="5340731" y="431546"/>
                </a:lnTo>
                <a:cubicBezTo>
                  <a:pt x="5340765" y="450632"/>
                  <a:pt x="5333206" y="468948"/>
                  <a:pt x="5319722" y="482456"/>
                </a:cubicBezTo>
                <a:cubicBezTo>
                  <a:pt x="5306238" y="495964"/>
                  <a:pt x="5287935" y="503555"/>
                  <a:pt x="5268849" y="503555"/>
                </a:cubicBez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45" name="Shape 43"/>
          <p:cNvSpPr/>
          <p:nvPr/>
        </p:nvSpPr>
        <p:spPr>
          <a:xfrm>
            <a:off x="6349719" y="3056991"/>
            <a:ext cx="35965" cy="503504"/>
          </a:xfrm>
          <a:custGeom>
            <a:avLst/>
            <a:gdLst/>
            <a:ahLst/>
            <a:cxnLst/>
            <a:rect l="l" t="t" r="r" b="b"/>
            <a:pathLst>
              <a:path w="35965" h="503504">
                <a:moveTo>
                  <a:pt x="35941" y="0"/>
                </a:moveTo>
                <a:lnTo>
                  <a:pt x="35941" y="0"/>
                </a:lnTo>
                <a:lnTo>
                  <a:pt x="35941" y="503555"/>
                </a:ln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46" name="Shape 44"/>
          <p:cNvSpPr/>
          <p:nvPr/>
        </p:nvSpPr>
        <p:spPr>
          <a:xfrm>
            <a:off x="6475595" y="3164885"/>
            <a:ext cx="287717" cy="287717"/>
          </a:xfrm>
          <a:prstGeom prst="roundRect">
            <a:avLst>
              <a:gd name="adj" fmla="val 50000"/>
            </a:avLst>
          </a:prstGeom>
          <a:solidFill>
            <a:srgbClr val="FF8904"/>
          </a:solidFill>
          <a:ln/>
        </p:spPr>
      </p:sp>
      <p:sp>
        <p:nvSpPr>
          <p:cNvPr id="47" name="Text 45"/>
          <p:cNvSpPr/>
          <p:nvPr/>
        </p:nvSpPr>
        <p:spPr>
          <a:xfrm>
            <a:off x="6444126" y="3164885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1206" y="3200850"/>
            <a:ext cx="1447575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Thermal Cutoff 130°C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49719" y="3668389"/>
            <a:ext cx="5340743" cy="503504"/>
          </a:xfrm>
          <a:custGeom>
            <a:avLst/>
            <a:gdLst/>
            <a:ahLst/>
            <a:cxnLst/>
            <a:rect l="l" t="t" r="r" b="b"/>
            <a:pathLst>
              <a:path w="5340743" h="503504">
                <a:moveTo>
                  <a:pt x="35941" y="0"/>
                </a:moveTo>
                <a:lnTo>
                  <a:pt x="5268849" y="0"/>
                </a:lnTo>
                <a:cubicBezTo>
                  <a:pt x="5308548" y="0"/>
                  <a:pt x="5340731" y="32183"/>
                  <a:pt x="5340731" y="71882"/>
                </a:cubicBezTo>
                <a:lnTo>
                  <a:pt x="5340731" y="431546"/>
                </a:lnTo>
                <a:cubicBezTo>
                  <a:pt x="5340765" y="450632"/>
                  <a:pt x="5333206" y="468948"/>
                  <a:pt x="5319722" y="482456"/>
                </a:cubicBezTo>
                <a:cubicBezTo>
                  <a:pt x="5306238" y="495964"/>
                  <a:pt x="5287935" y="503555"/>
                  <a:pt x="5268849" y="503555"/>
                </a:cubicBez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50" name="Shape 48"/>
          <p:cNvSpPr/>
          <p:nvPr/>
        </p:nvSpPr>
        <p:spPr>
          <a:xfrm>
            <a:off x="6349719" y="3668389"/>
            <a:ext cx="35965" cy="503504"/>
          </a:xfrm>
          <a:custGeom>
            <a:avLst/>
            <a:gdLst/>
            <a:ahLst/>
            <a:cxnLst/>
            <a:rect l="l" t="t" r="r" b="b"/>
            <a:pathLst>
              <a:path w="35965" h="503504">
                <a:moveTo>
                  <a:pt x="35941" y="0"/>
                </a:moveTo>
                <a:lnTo>
                  <a:pt x="35941" y="0"/>
                </a:lnTo>
                <a:lnTo>
                  <a:pt x="35941" y="503555"/>
                </a:ln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9A825"/>
          </a:solidFill>
          <a:ln/>
        </p:spPr>
      </p:sp>
      <p:sp>
        <p:nvSpPr>
          <p:cNvPr id="51" name="Shape 49"/>
          <p:cNvSpPr/>
          <p:nvPr/>
        </p:nvSpPr>
        <p:spPr>
          <a:xfrm>
            <a:off x="6475595" y="3776283"/>
            <a:ext cx="287717" cy="287717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/>
        </p:spPr>
      </p:sp>
      <p:sp>
        <p:nvSpPr>
          <p:cNvPr id="52" name="Text 50"/>
          <p:cNvSpPr/>
          <p:nvPr/>
        </p:nvSpPr>
        <p:spPr>
          <a:xfrm>
            <a:off x="6444126" y="3776283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71206" y="3812248"/>
            <a:ext cx="1780248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CO₂ Leak Sensor (MQ-135)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49719" y="4279788"/>
            <a:ext cx="5340743" cy="503504"/>
          </a:xfrm>
          <a:custGeom>
            <a:avLst/>
            <a:gdLst/>
            <a:ahLst/>
            <a:cxnLst/>
            <a:rect l="l" t="t" r="r" b="b"/>
            <a:pathLst>
              <a:path w="5340743" h="503504">
                <a:moveTo>
                  <a:pt x="35941" y="0"/>
                </a:moveTo>
                <a:lnTo>
                  <a:pt x="5268849" y="0"/>
                </a:lnTo>
                <a:cubicBezTo>
                  <a:pt x="5308548" y="0"/>
                  <a:pt x="5340731" y="32183"/>
                  <a:pt x="5340731" y="71882"/>
                </a:cubicBezTo>
                <a:lnTo>
                  <a:pt x="5340731" y="431546"/>
                </a:lnTo>
                <a:cubicBezTo>
                  <a:pt x="5340765" y="450632"/>
                  <a:pt x="5333206" y="468948"/>
                  <a:pt x="5319722" y="482456"/>
                </a:cubicBezTo>
                <a:cubicBezTo>
                  <a:pt x="5306238" y="495964"/>
                  <a:pt x="5287935" y="503555"/>
                  <a:pt x="5268849" y="503555"/>
                </a:cubicBez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49719" y="4279788"/>
            <a:ext cx="35965" cy="503504"/>
          </a:xfrm>
          <a:custGeom>
            <a:avLst/>
            <a:gdLst/>
            <a:ahLst/>
            <a:cxnLst/>
            <a:rect l="l" t="t" r="r" b="b"/>
            <a:pathLst>
              <a:path w="35965" h="503504">
                <a:moveTo>
                  <a:pt x="35941" y="0"/>
                </a:moveTo>
                <a:lnTo>
                  <a:pt x="35941" y="0"/>
                </a:lnTo>
                <a:lnTo>
                  <a:pt x="35941" y="503555"/>
                </a:ln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56" name="Shape 54"/>
          <p:cNvSpPr/>
          <p:nvPr/>
        </p:nvSpPr>
        <p:spPr>
          <a:xfrm>
            <a:off x="6475595" y="4387681"/>
            <a:ext cx="287717" cy="287717"/>
          </a:xfrm>
          <a:prstGeom prst="roundRect">
            <a:avLst>
              <a:gd name="adj" fmla="val 50000"/>
            </a:avLst>
          </a:prstGeom>
          <a:solidFill>
            <a:srgbClr val="05DF72"/>
          </a:solidFill>
          <a:ln/>
        </p:spPr>
      </p:sp>
      <p:sp>
        <p:nvSpPr>
          <p:cNvPr id="57" name="Text 55"/>
          <p:cNvSpPr/>
          <p:nvPr/>
        </p:nvSpPr>
        <p:spPr>
          <a:xfrm>
            <a:off x="6444126" y="4387681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71206" y="4423646"/>
            <a:ext cx="193309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Valve / Backflow Block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9719" y="4891186"/>
            <a:ext cx="5340743" cy="503504"/>
          </a:xfrm>
          <a:custGeom>
            <a:avLst/>
            <a:gdLst/>
            <a:ahLst/>
            <a:cxnLst/>
            <a:rect l="l" t="t" r="r" b="b"/>
            <a:pathLst>
              <a:path w="5340743" h="503504">
                <a:moveTo>
                  <a:pt x="35941" y="0"/>
                </a:moveTo>
                <a:lnTo>
                  <a:pt x="5268849" y="0"/>
                </a:lnTo>
                <a:cubicBezTo>
                  <a:pt x="5308548" y="0"/>
                  <a:pt x="5340731" y="32183"/>
                  <a:pt x="5340731" y="71882"/>
                </a:cubicBezTo>
                <a:lnTo>
                  <a:pt x="5340731" y="431546"/>
                </a:lnTo>
                <a:cubicBezTo>
                  <a:pt x="5340765" y="450632"/>
                  <a:pt x="5333206" y="468948"/>
                  <a:pt x="5319722" y="482456"/>
                </a:cubicBezTo>
                <a:cubicBezTo>
                  <a:pt x="5306238" y="495964"/>
                  <a:pt x="5287935" y="503555"/>
                  <a:pt x="5268849" y="503555"/>
                </a:cubicBez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349719" y="4891186"/>
            <a:ext cx="35965" cy="503504"/>
          </a:xfrm>
          <a:custGeom>
            <a:avLst/>
            <a:gdLst/>
            <a:ahLst/>
            <a:cxnLst/>
            <a:rect l="l" t="t" r="r" b="b"/>
            <a:pathLst>
              <a:path w="35965" h="503504">
                <a:moveTo>
                  <a:pt x="35941" y="0"/>
                </a:moveTo>
                <a:lnTo>
                  <a:pt x="35941" y="0"/>
                </a:lnTo>
                <a:lnTo>
                  <a:pt x="35941" y="503555"/>
                </a:lnTo>
                <a:lnTo>
                  <a:pt x="35941" y="503555"/>
                </a:lnTo>
                <a:cubicBezTo>
                  <a:pt x="26387" y="503555"/>
                  <a:pt x="17226" y="499751"/>
                  <a:pt x="10482" y="492983"/>
                </a:cubicBezTo>
                <a:cubicBezTo>
                  <a:pt x="3738" y="486216"/>
                  <a:pt x="-34" y="477041"/>
                  <a:pt x="0" y="4674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475595" y="4999080"/>
            <a:ext cx="287717" cy="287717"/>
          </a:xfrm>
          <a:prstGeom prst="roundRect">
            <a:avLst>
              <a:gd name="adj" fmla="val 50000"/>
            </a:avLst>
          </a:prstGeom>
          <a:solidFill>
            <a:srgbClr val="51A2FF"/>
          </a:solidFill>
          <a:ln/>
        </p:spPr>
      </p:sp>
      <p:sp>
        <p:nvSpPr>
          <p:cNvPr id="62" name="Text 60"/>
          <p:cNvSpPr/>
          <p:nvPr/>
        </p:nvSpPr>
        <p:spPr>
          <a:xfrm>
            <a:off x="6444126" y="4999080"/>
            <a:ext cx="350655" cy="287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71206" y="5035044"/>
            <a:ext cx="1663363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Backup Cartridge Bypass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77628" y="5781310"/>
            <a:ext cx="11454726" cy="719292"/>
          </a:xfrm>
          <a:custGeom>
            <a:avLst/>
            <a:gdLst/>
            <a:ahLst/>
            <a:cxnLst/>
            <a:rect l="l" t="t" r="r" b="b"/>
            <a:pathLst>
              <a:path w="11454726" h="719292">
                <a:moveTo>
                  <a:pt x="35941" y="0"/>
                </a:moveTo>
                <a:lnTo>
                  <a:pt x="11382756" y="0"/>
                </a:lnTo>
                <a:cubicBezTo>
                  <a:pt x="11401842" y="-34"/>
                  <a:pt x="11420158" y="7525"/>
                  <a:pt x="11433666" y="21009"/>
                </a:cubicBezTo>
                <a:cubicBezTo>
                  <a:pt x="11447174" y="34493"/>
                  <a:pt x="11454765" y="52796"/>
                  <a:pt x="11454765" y="71882"/>
                </a:cubicBezTo>
                <a:lnTo>
                  <a:pt x="11454765" y="647319"/>
                </a:lnTo>
                <a:cubicBezTo>
                  <a:pt x="11454799" y="666427"/>
                  <a:pt x="11447223" y="684763"/>
                  <a:pt x="11433711" y="698274"/>
                </a:cubicBezTo>
                <a:cubicBezTo>
                  <a:pt x="11420200" y="711786"/>
                  <a:pt x="11401864" y="719362"/>
                  <a:pt x="11382756" y="719328"/>
                </a:cubicBezTo>
                <a:lnTo>
                  <a:pt x="35941" y="719328"/>
                </a:lnTo>
                <a:cubicBezTo>
                  <a:pt x="16091" y="719328"/>
                  <a:pt x="0" y="703237"/>
                  <a:pt x="0" y="6833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65" name="Shape 63"/>
          <p:cNvSpPr/>
          <p:nvPr/>
        </p:nvSpPr>
        <p:spPr>
          <a:xfrm>
            <a:off x="377628" y="5781310"/>
            <a:ext cx="35965" cy="719292"/>
          </a:xfrm>
          <a:custGeom>
            <a:avLst/>
            <a:gdLst/>
            <a:ahLst/>
            <a:cxnLst/>
            <a:rect l="l" t="t" r="r" b="b"/>
            <a:pathLst>
              <a:path w="35965" h="719292">
                <a:moveTo>
                  <a:pt x="35941" y="0"/>
                </a:moveTo>
                <a:lnTo>
                  <a:pt x="35941" y="0"/>
                </a:lnTo>
                <a:lnTo>
                  <a:pt x="35941" y="719328"/>
                </a:lnTo>
                <a:lnTo>
                  <a:pt x="35941" y="719328"/>
                </a:lnTo>
                <a:cubicBezTo>
                  <a:pt x="16091" y="719328"/>
                  <a:pt x="0" y="703237"/>
                  <a:pt x="0" y="683387"/>
                </a:cubicBezTo>
                <a:lnTo>
                  <a:pt x="0" y="35941"/>
                </a:lnTo>
                <a:cubicBezTo>
                  <a:pt x="0" y="16105"/>
                  <a:pt x="16105" y="0"/>
                  <a:pt x="35941" y="0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6" name="Shape 64"/>
          <p:cNvSpPr/>
          <p:nvPr/>
        </p:nvSpPr>
        <p:spPr>
          <a:xfrm>
            <a:off x="561947" y="5961133"/>
            <a:ext cx="179823" cy="179823"/>
          </a:xfrm>
          <a:custGeom>
            <a:avLst/>
            <a:gdLst/>
            <a:ahLst/>
            <a:cxnLst/>
            <a:rect l="l" t="t" r="r" b="b"/>
            <a:pathLst>
              <a:path w="179823" h="179823">
                <a:moveTo>
                  <a:pt x="89912" y="179823"/>
                </a:moveTo>
                <a:cubicBezTo>
                  <a:pt x="139535" y="179823"/>
                  <a:pt x="179823" y="139535"/>
                  <a:pt x="179823" y="89912"/>
                </a:cubicBezTo>
                <a:cubicBezTo>
                  <a:pt x="179823" y="40288"/>
                  <a:pt x="139535" y="0"/>
                  <a:pt x="89912" y="0"/>
                </a:cubicBezTo>
                <a:cubicBezTo>
                  <a:pt x="40288" y="0"/>
                  <a:pt x="0" y="40288"/>
                  <a:pt x="0" y="89912"/>
                </a:cubicBezTo>
                <a:cubicBezTo>
                  <a:pt x="0" y="139535"/>
                  <a:pt x="40288" y="179823"/>
                  <a:pt x="89912" y="179823"/>
                </a:cubicBezTo>
                <a:close/>
                <a:moveTo>
                  <a:pt x="89912" y="47765"/>
                </a:moveTo>
                <a:cubicBezTo>
                  <a:pt x="94583" y="47765"/>
                  <a:pt x="98341" y="51524"/>
                  <a:pt x="98341" y="56195"/>
                </a:cubicBezTo>
                <a:lnTo>
                  <a:pt x="98341" y="95531"/>
                </a:lnTo>
                <a:cubicBezTo>
                  <a:pt x="98341" y="100202"/>
                  <a:pt x="94583" y="103960"/>
                  <a:pt x="89912" y="103960"/>
                </a:cubicBezTo>
                <a:cubicBezTo>
                  <a:pt x="85240" y="103960"/>
                  <a:pt x="81482" y="100202"/>
                  <a:pt x="81482" y="95531"/>
                </a:cubicBezTo>
                <a:lnTo>
                  <a:pt x="81482" y="56195"/>
                </a:lnTo>
                <a:cubicBezTo>
                  <a:pt x="81482" y="51524"/>
                  <a:pt x="85240" y="47765"/>
                  <a:pt x="89912" y="47765"/>
                </a:cubicBezTo>
                <a:close/>
                <a:moveTo>
                  <a:pt x="80534" y="123628"/>
                </a:moveTo>
                <a:cubicBezTo>
                  <a:pt x="80321" y="120148"/>
                  <a:pt x="82057" y="116836"/>
                  <a:pt x="85040" y="115031"/>
                </a:cubicBezTo>
                <a:cubicBezTo>
                  <a:pt x="88024" y="113226"/>
                  <a:pt x="91763" y="113226"/>
                  <a:pt x="94747" y="115031"/>
                </a:cubicBezTo>
                <a:cubicBezTo>
                  <a:pt x="97731" y="116836"/>
                  <a:pt x="99467" y="120148"/>
                  <a:pt x="99254" y="123628"/>
                </a:cubicBezTo>
                <a:cubicBezTo>
                  <a:pt x="99467" y="127109"/>
                  <a:pt x="97731" y="130421"/>
                  <a:pt x="94747" y="132226"/>
                </a:cubicBezTo>
                <a:cubicBezTo>
                  <a:pt x="91763" y="134031"/>
                  <a:pt x="88024" y="134031"/>
                  <a:pt x="85040" y="132226"/>
                </a:cubicBezTo>
                <a:cubicBezTo>
                  <a:pt x="82057" y="130421"/>
                  <a:pt x="80321" y="127109"/>
                  <a:pt x="80534" y="123628"/>
                </a:cubicBezTo>
                <a:close/>
              </a:path>
            </a:pathLst>
          </a:custGeom>
          <a:solidFill>
            <a:srgbClr val="D32F2F"/>
          </a:solidFill>
          <a:ln/>
        </p:spPr>
      </p:sp>
      <p:sp>
        <p:nvSpPr>
          <p:cNvPr id="67" name="Text 65"/>
          <p:cNvSpPr/>
          <p:nvPr/>
        </p:nvSpPr>
        <p:spPr>
          <a:xfrm>
            <a:off x="872142" y="5925168"/>
            <a:ext cx="9144000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Limitation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72142" y="6176920"/>
            <a:ext cx="9135009" cy="17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depends on thermal regeneration efficiency and may degrade over time due to sorbent aging and dust contamination. We engineered for it, not around it.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38800"/>
            <a:ext cx="12192000" cy="12192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666666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kern="0" spc="-90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RESILIENCE ENGINEERING FOR ARTEMIS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952500"/>
            <a:ext cx="914400" cy="38100"/>
          </a:xfrm>
          <a:prstGeom prst="roundRect">
            <a:avLst>
              <a:gd name="adj" fmla="val 0"/>
            </a:avLst>
          </a:prstGeom>
          <a:solidFill>
            <a:srgbClr val="00838F"/>
          </a:solidFill>
          <a:ln/>
        </p:spPr>
      </p:sp>
      <p:sp>
        <p:nvSpPr>
          <p:cNvPr id="5" name="Shape 3"/>
          <p:cNvSpPr/>
          <p:nvPr/>
        </p:nvSpPr>
        <p:spPr>
          <a:xfrm>
            <a:off x="3971925" y="12287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9562" y="14525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8225" y="12287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95863" y="14525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24525" y="12287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6925" y="1457325"/>
            <a:ext cx="438150" cy="742950"/>
          </a:xfrm>
          <a:prstGeom prst="roundRect">
            <a:avLst>
              <a:gd name="adj" fmla="val 8696"/>
            </a:avLst>
          </a:prstGeom>
          <a:solidFill>
            <a:srgbClr val="F9A825">
              <a:alpha val="30196"/>
            </a:srgbClr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0825" y="12287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8463" y="14525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7125" y="12287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4762" y="14525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1925" y="25622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9562" y="27860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8225" y="25622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5863" y="27860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24525" y="25622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72163" y="27860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0825" y="25622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463" y="27860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7125" y="2562225"/>
            <a:ext cx="742950" cy="1200150"/>
          </a:xfrm>
          <a:prstGeom prst="roundRect">
            <a:avLst>
              <a:gd name="adj" fmla="val 10256"/>
            </a:avLst>
          </a:prstGeom>
          <a:solidFill>
            <a:srgbClr val="E5E7EB"/>
          </a:solidFill>
          <a:ln w="25400">
            <a:solidFill>
              <a:srgbClr val="D1D5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4762" y="2786063"/>
            <a:ext cx="447675" cy="752475"/>
          </a:xfrm>
          <a:prstGeom prst="roundRect">
            <a:avLst>
              <a:gd name="adj" fmla="val 8511"/>
            </a:avLst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663" y="4000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10-unit modular rack with hot-swappable units for continuous operation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57363" y="4419600"/>
            <a:ext cx="86772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A23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AERO-LITE turns CO₂ from a waste problem into a controlled resource for sustaining human life beyond Earth.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3375" y="535305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00838F"/>
                </a:solidFill>
                <a:latin typeface="Liter" pitchFamily="34" charset="0"/>
              </a:rPr>
              <a:t>If one breaks, you swap it in 30 seconds. The other nine keep running.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2286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216920" y="1828800"/>
            <a:ext cx="62198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3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0" y="2971800"/>
            <a:ext cx="1219200" cy="38100"/>
          </a:xfrm>
          <a:prstGeom prst="roundRect">
            <a:avLst>
              <a:gd name="adj" fmla="val 0"/>
            </a:avLst>
          </a:prstGeom>
          <a:solidFill>
            <a:srgbClr val="F9A825"/>
          </a:solidFill>
          <a:ln/>
        </p:spPr>
      </p:sp>
      <p:sp>
        <p:nvSpPr>
          <p:cNvPr id="6" name="Text 3"/>
          <p:cNvSpPr/>
          <p:nvPr/>
        </p:nvSpPr>
        <p:spPr>
          <a:xfrm>
            <a:off x="4213473" y="3314700"/>
            <a:ext cx="390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9A82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 welcome your questions.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87132" y="4114800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Tilak Patel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07414" y="4457700"/>
            <a:ext cx="20350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Thompson Middle School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11822</TotalTime>
  <Words>354</Words>
  <Application>Microsoft Macintosh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Coda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AERO-LITE: Modular CO₂ Pre-Processor for Regenerative Life Support Systems</dc:title>
  <dc:subject>AERO-LITE: Modular CO₂ Pre-Processor for Regenerative Life Support Systems</dc:subject>
  <dc:creator>Kimi</dc:creator>
  <cp:lastModifiedBy>Ronak Patel (Chicago)</cp:lastModifiedBy>
  <cp:revision>10</cp:revision>
  <dcterms:created xsi:type="dcterms:W3CDTF">2026-04-29T17:21:10Z</dcterms:created>
  <dcterms:modified xsi:type="dcterms:W3CDTF">2026-05-08T19:05:54Z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{"Label":"AERO-LITE: Modular CO₂ Pre-Processor for Regenerative Life Support Systems","ContentProducer":"001191110108MACG2KBH8F10000","ProduceID":"19dda3eb-6242-8310-8000-0000b738a06f","ReservedCode1":"","ContentPropagator":"001191110108MACG2KBH8F20000","PropagateID":"19dda3eb-6242-8310-8000-0000b738a06f","ReservedCode2":""}</vt:lpwstr>
  </property>
</Properties>
</file>